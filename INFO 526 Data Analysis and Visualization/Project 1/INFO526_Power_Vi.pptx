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Montserrat"/>
      <p:regular r:id="rId15"/>
      <p:bold r:id="rId16"/>
      <p:italic r:id="rId17"/>
      <p:boldItalic r:id="rId18"/>
    </p:embeddedFont>
    <p:embeddedFont>
      <p:font typeface="La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fntdata"/><Relationship Id="rId11" Type="http://schemas.openxmlformats.org/officeDocument/2006/relationships/slide" Target="slides/slide6.xml"/><Relationship Id="rId22" Type="http://schemas.openxmlformats.org/officeDocument/2006/relationships/font" Target="fonts/Lato-boldItalic.fntdata"/><Relationship Id="rId10" Type="http://schemas.openxmlformats.org/officeDocument/2006/relationships/slide" Target="slides/slide5.xml"/><Relationship Id="rId21" Type="http://schemas.openxmlformats.org/officeDocument/2006/relationships/font" Target="fonts/Lato-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ontserrat-regular.fntdata"/><Relationship Id="rId14" Type="http://schemas.openxmlformats.org/officeDocument/2006/relationships/slide" Target="slides/slide9.xml"/><Relationship Id="rId17" Type="http://schemas.openxmlformats.org/officeDocument/2006/relationships/font" Target="fonts/Montserrat-italic.fntdata"/><Relationship Id="rId16" Type="http://schemas.openxmlformats.org/officeDocument/2006/relationships/font" Target="fonts/Montserrat-bold.fntdata"/><Relationship Id="rId5" Type="http://schemas.openxmlformats.org/officeDocument/2006/relationships/notesMaster" Target="notesMasters/notesMaster1.xml"/><Relationship Id="rId19" Type="http://schemas.openxmlformats.org/officeDocument/2006/relationships/font" Target="fonts/Lato-regular.fntdata"/><Relationship Id="rId6" Type="http://schemas.openxmlformats.org/officeDocument/2006/relationships/slide" Target="slides/slide1.xml"/><Relationship Id="rId18" Type="http://schemas.openxmlformats.org/officeDocument/2006/relationships/font" Target="fonts/Montserrat-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32b2f6b22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32b2f6b22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32b2f6b229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32b2f6b229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32b2f6b229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32b2f6b22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3cb0651e7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3cb0651e7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32b2f6b229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32b2f6b229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3cb0651e7f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3cb0651e7f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3ca77048b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3ca77048b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3ca77048b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3ca77048b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655850"/>
            <a:ext cx="5017500" cy="15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380"/>
              <a:t>Analyzing Species Distribution and Conservation Status in the Most Visited U.S. National Parks</a:t>
            </a:r>
            <a:endParaRPr sz="3380"/>
          </a:p>
        </p:txBody>
      </p:sp>
      <p:sp>
        <p:nvSpPr>
          <p:cNvPr id="135" name="Google Shape;135;p13"/>
          <p:cNvSpPr txBox="1"/>
          <p:nvPr>
            <p:ph idx="1" type="subTitle"/>
          </p:nvPr>
        </p:nvSpPr>
        <p:spPr>
          <a:xfrm>
            <a:off x="6161550" y="3760650"/>
            <a:ext cx="2393100" cy="11118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SzPts val="440"/>
              <a:buNone/>
            </a:pPr>
            <a:r>
              <a:rPr lang="en" sz="1420"/>
              <a:t>Het Patel</a:t>
            </a:r>
            <a:endParaRPr sz="1420"/>
          </a:p>
          <a:p>
            <a:pPr indent="0" lvl="0" marL="0" rtl="0" algn="l">
              <a:lnSpc>
                <a:spcPct val="80000"/>
              </a:lnSpc>
              <a:spcBef>
                <a:spcPts val="0"/>
              </a:spcBef>
              <a:spcAft>
                <a:spcPts val="0"/>
              </a:spcAft>
              <a:buSzPts val="440"/>
              <a:buNone/>
            </a:pPr>
            <a:r>
              <a:rPr lang="en" sz="1420"/>
              <a:t>Gözde Durgut</a:t>
            </a:r>
            <a:endParaRPr sz="1420"/>
          </a:p>
          <a:p>
            <a:pPr indent="0" lvl="0" marL="0" rtl="0" algn="l">
              <a:lnSpc>
                <a:spcPct val="80000"/>
              </a:lnSpc>
              <a:spcBef>
                <a:spcPts val="0"/>
              </a:spcBef>
              <a:spcAft>
                <a:spcPts val="0"/>
              </a:spcAft>
              <a:buSzPts val="440"/>
              <a:buNone/>
            </a:pPr>
            <a:r>
              <a:rPr lang="en" sz="1420"/>
              <a:t>David Acevedo Cardona</a:t>
            </a:r>
            <a:endParaRPr sz="1420"/>
          </a:p>
          <a:p>
            <a:pPr indent="0" lvl="0" marL="0" rtl="0" algn="l">
              <a:lnSpc>
                <a:spcPct val="80000"/>
              </a:lnSpc>
              <a:spcBef>
                <a:spcPts val="0"/>
              </a:spcBef>
              <a:spcAft>
                <a:spcPts val="0"/>
              </a:spcAft>
              <a:buSzPts val="440"/>
              <a:buNone/>
            </a:pPr>
            <a:r>
              <a:rPr lang="en" sz="1420"/>
              <a:t>Sree Paada Reddy</a:t>
            </a:r>
            <a:endParaRPr sz="142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29300" y="440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Dataset Collection and Description</a:t>
            </a:r>
            <a:endParaRPr b="1"/>
          </a:p>
        </p:txBody>
      </p:sp>
      <p:sp>
        <p:nvSpPr>
          <p:cNvPr id="141" name="Google Shape;141;p14"/>
          <p:cNvSpPr txBox="1"/>
          <p:nvPr>
            <p:ph idx="1" type="body"/>
          </p:nvPr>
        </p:nvSpPr>
        <p:spPr>
          <a:xfrm>
            <a:off x="1229300" y="1346475"/>
            <a:ext cx="3134100" cy="35766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sz="1400">
                <a:highlight>
                  <a:schemeClr val="dk1"/>
                </a:highlight>
              </a:rPr>
              <a:t>The U.S. Department of the Interior collects wildlife data through various methods including direct observation, field surveys, camera traps, acoustic monitoring, citizen science programs, and </a:t>
            </a:r>
            <a:r>
              <a:rPr lang="en" sz="1400">
                <a:highlight>
                  <a:schemeClr val="dk1"/>
                </a:highlight>
              </a:rPr>
              <a:t>aerial</a:t>
            </a:r>
            <a:r>
              <a:rPr lang="en" sz="1400">
                <a:highlight>
                  <a:schemeClr val="dk1"/>
                </a:highlight>
              </a:rPr>
              <a:t> photography.</a:t>
            </a:r>
            <a:endParaRPr sz="1400">
              <a:highlight>
                <a:schemeClr val="dk1"/>
              </a:highlight>
            </a:endParaRPr>
          </a:p>
          <a:p>
            <a:pPr indent="0" lvl="0" marL="0" rtl="0" algn="l">
              <a:spcBef>
                <a:spcPts val="1200"/>
              </a:spcBef>
              <a:spcAft>
                <a:spcPts val="0"/>
              </a:spcAft>
              <a:buNone/>
            </a:pPr>
            <a:r>
              <a:rPr b="1" lang="en" sz="1400">
                <a:highlight>
                  <a:schemeClr val="dk1"/>
                </a:highlight>
              </a:rPr>
              <a:t>Data Creation Date</a:t>
            </a:r>
            <a:r>
              <a:rPr lang="en" sz="1400">
                <a:highlight>
                  <a:schemeClr val="dk1"/>
                </a:highlight>
              </a:rPr>
              <a:t>: </a:t>
            </a:r>
            <a:r>
              <a:rPr b="1" lang="en" sz="1400">
                <a:highlight>
                  <a:schemeClr val="dk1"/>
                </a:highlight>
              </a:rPr>
              <a:t>September 19, 2013, last update in 2024</a:t>
            </a:r>
            <a:endParaRPr b="1" sz="1400">
              <a:highlight>
                <a:schemeClr val="dk1"/>
              </a:highlight>
            </a:endParaRPr>
          </a:p>
          <a:p>
            <a:pPr indent="0" lvl="0" marL="0" rtl="0" algn="l">
              <a:spcBef>
                <a:spcPts val="1200"/>
              </a:spcBef>
              <a:spcAft>
                <a:spcPts val="0"/>
              </a:spcAft>
              <a:buNone/>
            </a:pPr>
            <a:r>
              <a:rPr b="1" lang="en" sz="1400">
                <a:highlight>
                  <a:schemeClr val="dk1"/>
                </a:highlight>
              </a:rPr>
              <a:t>Dataset Dimensions </a:t>
            </a:r>
            <a:r>
              <a:rPr lang="en" sz="1400">
                <a:highlight>
                  <a:schemeClr val="dk1"/>
                </a:highlight>
              </a:rPr>
              <a:t>61,119 rows and 28 columns (variables)</a:t>
            </a:r>
            <a:endParaRPr sz="1400">
              <a:highlight>
                <a:schemeClr val="dk1"/>
              </a:highlight>
            </a:endParaRPr>
          </a:p>
          <a:p>
            <a:pPr indent="0" lvl="0" marL="0" rtl="0" algn="l">
              <a:lnSpc>
                <a:spcPct val="95000"/>
              </a:lnSpc>
              <a:spcBef>
                <a:spcPts val="200"/>
              </a:spcBef>
              <a:spcAft>
                <a:spcPts val="1200"/>
              </a:spcAft>
              <a:buSzPts val="275"/>
              <a:buNone/>
            </a:pPr>
            <a:r>
              <a:t/>
            </a:r>
            <a:endParaRPr sz="1550">
              <a:highlight>
                <a:schemeClr val="dk1"/>
              </a:highlight>
            </a:endParaRPr>
          </a:p>
        </p:txBody>
      </p:sp>
      <p:sp>
        <p:nvSpPr>
          <p:cNvPr id="142" name="Google Shape;142;p14"/>
          <p:cNvSpPr txBox="1"/>
          <p:nvPr/>
        </p:nvSpPr>
        <p:spPr>
          <a:xfrm>
            <a:off x="4793075" y="1013150"/>
            <a:ext cx="4246200" cy="3619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sz="1300">
              <a:solidFill>
                <a:schemeClr val="lt1"/>
              </a:solidFill>
              <a:highlight>
                <a:schemeClr val="dk1"/>
              </a:highlight>
              <a:latin typeface="Lato"/>
              <a:ea typeface="Lato"/>
              <a:cs typeface="Lato"/>
              <a:sym typeface="Lato"/>
            </a:endParaRPr>
          </a:p>
          <a:p>
            <a:pPr indent="0" lvl="0" marL="0" rtl="0" algn="l">
              <a:lnSpc>
                <a:spcPct val="115000"/>
              </a:lnSpc>
              <a:spcBef>
                <a:spcPts val="1200"/>
              </a:spcBef>
              <a:spcAft>
                <a:spcPts val="0"/>
              </a:spcAft>
              <a:buNone/>
            </a:pPr>
            <a:r>
              <a:rPr b="1" lang="en" sz="1300">
                <a:solidFill>
                  <a:schemeClr val="lt1"/>
                </a:solidFill>
                <a:highlight>
                  <a:schemeClr val="dk1"/>
                </a:highlight>
                <a:latin typeface="Lato"/>
                <a:ea typeface="Lato"/>
                <a:cs typeface="Lato"/>
                <a:sym typeface="Lato"/>
              </a:rPr>
              <a:t>Key Variables</a:t>
            </a:r>
            <a:endParaRPr b="1" sz="1300">
              <a:solidFill>
                <a:schemeClr val="lt1"/>
              </a:solidFill>
              <a:highlight>
                <a:schemeClr val="dk1"/>
              </a:highlight>
              <a:latin typeface="Lato"/>
              <a:ea typeface="Lato"/>
              <a:cs typeface="Lato"/>
              <a:sym typeface="Lato"/>
            </a:endParaRPr>
          </a:p>
          <a:p>
            <a:pPr indent="-311150" lvl="0" marL="457200" rtl="0" algn="l">
              <a:lnSpc>
                <a:spcPct val="115000"/>
              </a:lnSpc>
              <a:spcBef>
                <a:spcPts val="1200"/>
              </a:spcBef>
              <a:spcAft>
                <a:spcPts val="0"/>
              </a:spcAft>
              <a:buClr>
                <a:schemeClr val="lt1"/>
              </a:buClr>
              <a:buSzPts val="1300"/>
              <a:buFont typeface="Lato"/>
              <a:buChar char="●"/>
            </a:pPr>
            <a:r>
              <a:rPr b="1" lang="en" sz="1300">
                <a:solidFill>
                  <a:schemeClr val="lt1"/>
                </a:solidFill>
                <a:highlight>
                  <a:schemeClr val="dk1"/>
                </a:highlight>
                <a:latin typeface="Lato"/>
                <a:ea typeface="Lato"/>
                <a:cs typeface="Lato"/>
                <a:sym typeface="Lato"/>
              </a:rPr>
              <a:t>ParkName</a:t>
            </a:r>
            <a:r>
              <a:rPr lang="en" sz="1300">
                <a:solidFill>
                  <a:schemeClr val="lt1"/>
                </a:solidFill>
                <a:highlight>
                  <a:schemeClr val="dk1"/>
                </a:highlight>
                <a:latin typeface="Lato"/>
                <a:ea typeface="Lato"/>
                <a:cs typeface="Lato"/>
                <a:sym typeface="Lato"/>
              </a:rPr>
              <a:t>: National park where the species was recorded.</a:t>
            </a:r>
            <a:endParaRPr sz="1300">
              <a:solidFill>
                <a:schemeClr val="lt1"/>
              </a:solidFill>
              <a:highlight>
                <a:schemeClr val="dk1"/>
              </a:highlight>
              <a:latin typeface="Lato"/>
              <a:ea typeface="Lato"/>
              <a:cs typeface="Lato"/>
              <a:sym typeface="Lato"/>
            </a:endParaRPr>
          </a:p>
          <a:p>
            <a:pPr indent="-311150" lvl="0" marL="457200" rtl="0" algn="l">
              <a:lnSpc>
                <a:spcPct val="115000"/>
              </a:lnSpc>
              <a:spcBef>
                <a:spcPts val="0"/>
              </a:spcBef>
              <a:spcAft>
                <a:spcPts val="0"/>
              </a:spcAft>
              <a:buClr>
                <a:schemeClr val="lt1"/>
              </a:buClr>
              <a:buSzPts val="1300"/>
              <a:buFont typeface="Lato"/>
              <a:buChar char="●"/>
            </a:pPr>
            <a:r>
              <a:rPr b="1" lang="en" sz="1300">
                <a:solidFill>
                  <a:schemeClr val="lt1"/>
                </a:solidFill>
                <a:highlight>
                  <a:schemeClr val="dk1"/>
                </a:highlight>
                <a:latin typeface="Lato"/>
                <a:ea typeface="Lato"/>
                <a:cs typeface="Lato"/>
                <a:sym typeface="Lato"/>
              </a:rPr>
              <a:t>CategoryName</a:t>
            </a:r>
            <a:r>
              <a:rPr lang="en" sz="1300">
                <a:solidFill>
                  <a:schemeClr val="lt1"/>
                </a:solidFill>
                <a:highlight>
                  <a:schemeClr val="dk1"/>
                </a:highlight>
                <a:latin typeface="Lato"/>
                <a:ea typeface="Lato"/>
                <a:cs typeface="Lato"/>
                <a:sym typeface="Lato"/>
              </a:rPr>
              <a:t>: Species category (e.g., Mammal, Bird).</a:t>
            </a:r>
            <a:endParaRPr sz="1300">
              <a:solidFill>
                <a:schemeClr val="lt1"/>
              </a:solidFill>
              <a:highlight>
                <a:schemeClr val="dk1"/>
              </a:highlight>
              <a:latin typeface="Lato"/>
              <a:ea typeface="Lato"/>
              <a:cs typeface="Lato"/>
              <a:sym typeface="Lato"/>
            </a:endParaRPr>
          </a:p>
          <a:p>
            <a:pPr indent="-311150" lvl="0" marL="457200" rtl="0" algn="l">
              <a:lnSpc>
                <a:spcPct val="115000"/>
              </a:lnSpc>
              <a:spcBef>
                <a:spcPts val="0"/>
              </a:spcBef>
              <a:spcAft>
                <a:spcPts val="0"/>
              </a:spcAft>
              <a:buClr>
                <a:schemeClr val="lt1"/>
              </a:buClr>
              <a:buSzPts val="1300"/>
              <a:buFont typeface="Lato"/>
              <a:buChar char="●"/>
            </a:pPr>
            <a:r>
              <a:rPr b="1" lang="en" sz="1300">
                <a:solidFill>
                  <a:schemeClr val="lt1"/>
                </a:solidFill>
                <a:highlight>
                  <a:schemeClr val="dk1"/>
                </a:highlight>
                <a:latin typeface="Lato"/>
                <a:ea typeface="Lato"/>
                <a:cs typeface="Lato"/>
                <a:sym typeface="Lato"/>
              </a:rPr>
              <a:t>SciName</a:t>
            </a:r>
            <a:r>
              <a:rPr lang="en" sz="1300">
                <a:solidFill>
                  <a:schemeClr val="lt1"/>
                </a:solidFill>
                <a:highlight>
                  <a:schemeClr val="dk1"/>
                </a:highlight>
                <a:latin typeface="Lato"/>
                <a:ea typeface="Lato"/>
                <a:cs typeface="Lato"/>
                <a:sym typeface="Lato"/>
              </a:rPr>
              <a:t>: Scientific name of the species.</a:t>
            </a:r>
            <a:endParaRPr sz="1300">
              <a:solidFill>
                <a:schemeClr val="lt1"/>
              </a:solidFill>
              <a:highlight>
                <a:schemeClr val="dk1"/>
              </a:highlight>
              <a:latin typeface="Lato"/>
              <a:ea typeface="Lato"/>
              <a:cs typeface="Lato"/>
              <a:sym typeface="Lato"/>
            </a:endParaRPr>
          </a:p>
          <a:p>
            <a:pPr indent="-311150" lvl="0" marL="457200" rtl="0" algn="l">
              <a:lnSpc>
                <a:spcPct val="115000"/>
              </a:lnSpc>
              <a:spcBef>
                <a:spcPts val="0"/>
              </a:spcBef>
              <a:spcAft>
                <a:spcPts val="0"/>
              </a:spcAft>
              <a:buClr>
                <a:schemeClr val="lt1"/>
              </a:buClr>
              <a:buSzPts val="1300"/>
              <a:buFont typeface="Lato"/>
              <a:buChar char="●"/>
            </a:pPr>
            <a:r>
              <a:rPr b="1" lang="en" sz="1300">
                <a:solidFill>
                  <a:schemeClr val="lt1"/>
                </a:solidFill>
                <a:highlight>
                  <a:schemeClr val="dk1"/>
                </a:highlight>
                <a:latin typeface="Lato"/>
                <a:ea typeface="Lato"/>
                <a:cs typeface="Lato"/>
                <a:sym typeface="Lato"/>
              </a:rPr>
              <a:t>CommonNames</a:t>
            </a:r>
            <a:r>
              <a:rPr lang="en" sz="1300">
                <a:solidFill>
                  <a:schemeClr val="lt1"/>
                </a:solidFill>
                <a:highlight>
                  <a:schemeClr val="dk1"/>
                </a:highlight>
                <a:latin typeface="Lato"/>
                <a:ea typeface="Lato"/>
                <a:cs typeface="Lato"/>
                <a:sym typeface="Lato"/>
              </a:rPr>
              <a:t>: Common names used for the species.</a:t>
            </a:r>
            <a:endParaRPr sz="1300">
              <a:solidFill>
                <a:schemeClr val="lt1"/>
              </a:solidFill>
              <a:highlight>
                <a:schemeClr val="dk1"/>
              </a:highlight>
              <a:latin typeface="Lato"/>
              <a:ea typeface="Lato"/>
              <a:cs typeface="Lato"/>
              <a:sym typeface="Lato"/>
            </a:endParaRPr>
          </a:p>
          <a:p>
            <a:pPr indent="-311150" lvl="0" marL="457200" rtl="0" algn="l">
              <a:lnSpc>
                <a:spcPct val="115000"/>
              </a:lnSpc>
              <a:spcBef>
                <a:spcPts val="0"/>
              </a:spcBef>
              <a:spcAft>
                <a:spcPts val="0"/>
              </a:spcAft>
              <a:buClr>
                <a:schemeClr val="lt1"/>
              </a:buClr>
              <a:buSzPts val="1300"/>
              <a:buFont typeface="Lato"/>
              <a:buChar char="●"/>
            </a:pPr>
            <a:r>
              <a:rPr b="1" lang="en" sz="1300">
                <a:solidFill>
                  <a:schemeClr val="lt1"/>
                </a:solidFill>
                <a:highlight>
                  <a:schemeClr val="dk1"/>
                </a:highlight>
                <a:latin typeface="Lato"/>
                <a:ea typeface="Lato"/>
                <a:cs typeface="Lato"/>
                <a:sym typeface="Lato"/>
              </a:rPr>
              <a:t>Order, Family</a:t>
            </a:r>
            <a:r>
              <a:rPr lang="en" sz="1300">
                <a:solidFill>
                  <a:schemeClr val="lt1"/>
                </a:solidFill>
                <a:highlight>
                  <a:schemeClr val="dk1"/>
                </a:highlight>
                <a:latin typeface="Lato"/>
                <a:ea typeface="Lato"/>
                <a:cs typeface="Lato"/>
                <a:sym typeface="Lato"/>
              </a:rPr>
              <a:t>: Taxonomic classification details.</a:t>
            </a:r>
            <a:endParaRPr sz="1300">
              <a:solidFill>
                <a:schemeClr val="lt1"/>
              </a:solidFill>
              <a:highlight>
                <a:schemeClr val="dk1"/>
              </a:highlight>
              <a:latin typeface="Lato"/>
              <a:ea typeface="Lato"/>
              <a:cs typeface="Lato"/>
              <a:sym typeface="Lato"/>
            </a:endParaRPr>
          </a:p>
          <a:p>
            <a:pPr indent="-311150" lvl="0" marL="457200" rtl="0" algn="l">
              <a:lnSpc>
                <a:spcPct val="115000"/>
              </a:lnSpc>
              <a:spcBef>
                <a:spcPts val="0"/>
              </a:spcBef>
              <a:spcAft>
                <a:spcPts val="0"/>
              </a:spcAft>
              <a:buClr>
                <a:schemeClr val="lt1"/>
              </a:buClr>
              <a:buSzPts val="1300"/>
              <a:buFont typeface="Lato"/>
              <a:buChar char="●"/>
            </a:pPr>
            <a:r>
              <a:rPr b="1" lang="en" sz="1300">
                <a:solidFill>
                  <a:schemeClr val="lt1"/>
                </a:solidFill>
                <a:highlight>
                  <a:schemeClr val="dk1"/>
                </a:highlight>
                <a:latin typeface="Lato"/>
                <a:ea typeface="Lato"/>
                <a:cs typeface="Lato"/>
                <a:sym typeface="Lato"/>
              </a:rPr>
              <a:t>TEStatus</a:t>
            </a:r>
            <a:r>
              <a:rPr lang="en" sz="1300">
                <a:solidFill>
                  <a:schemeClr val="lt1"/>
                </a:solidFill>
                <a:highlight>
                  <a:schemeClr val="dk1"/>
                </a:highlight>
                <a:latin typeface="Lato"/>
                <a:ea typeface="Lato"/>
                <a:cs typeface="Lato"/>
                <a:sym typeface="Lato"/>
              </a:rPr>
              <a:t>: Threatened/Endangered status.</a:t>
            </a:r>
            <a:endParaRPr sz="1300">
              <a:solidFill>
                <a:schemeClr val="lt1"/>
              </a:solidFill>
              <a:highlight>
                <a:schemeClr val="dk1"/>
              </a:highlight>
              <a:latin typeface="Lato"/>
              <a:ea typeface="Lato"/>
              <a:cs typeface="Lato"/>
              <a:sym typeface="Lato"/>
            </a:endParaRPr>
          </a:p>
          <a:p>
            <a:pPr indent="-311150" lvl="0" marL="457200" rtl="0" algn="l">
              <a:lnSpc>
                <a:spcPct val="115000"/>
              </a:lnSpc>
              <a:spcBef>
                <a:spcPts val="0"/>
              </a:spcBef>
              <a:spcAft>
                <a:spcPts val="0"/>
              </a:spcAft>
              <a:buClr>
                <a:schemeClr val="lt1"/>
              </a:buClr>
              <a:buSzPts val="1300"/>
              <a:buFont typeface="Lato"/>
              <a:buChar char="●"/>
            </a:pPr>
            <a:r>
              <a:rPr b="1" lang="en" sz="1300">
                <a:solidFill>
                  <a:schemeClr val="lt1"/>
                </a:solidFill>
                <a:highlight>
                  <a:schemeClr val="dk1"/>
                </a:highlight>
                <a:latin typeface="Lato"/>
                <a:ea typeface="Lato"/>
                <a:cs typeface="Lato"/>
                <a:sym typeface="Lato"/>
              </a:rPr>
              <a:t>Observations</a:t>
            </a:r>
            <a:r>
              <a:rPr lang="en" sz="1300">
                <a:solidFill>
                  <a:schemeClr val="lt1"/>
                </a:solidFill>
                <a:highlight>
                  <a:schemeClr val="dk1"/>
                </a:highlight>
                <a:latin typeface="Lato"/>
                <a:ea typeface="Lato"/>
                <a:cs typeface="Lato"/>
                <a:sym typeface="Lato"/>
              </a:rPr>
              <a:t>: Number of recorded sightings.</a:t>
            </a:r>
            <a:endParaRPr sz="1300">
              <a:solidFill>
                <a:schemeClr val="lt1"/>
              </a:solidFill>
              <a:highlight>
                <a:schemeClr val="dk1"/>
              </a:highlight>
              <a:latin typeface="Lato"/>
              <a:ea typeface="Lato"/>
              <a:cs typeface="Lato"/>
              <a:sym typeface="Lato"/>
            </a:endParaRPr>
          </a:p>
          <a:p>
            <a:pPr indent="0" lvl="0" marL="0" rtl="0" algn="l">
              <a:lnSpc>
                <a:spcPct val="95000"/>
              </a:lnSpc>
              <a:spcBef>
                <a:spcPts val="1200"/>
              </a:spcBef>
              <a:spcAft>
                <a:spcPts val="1200"/>
              </a:spcAft>
              <a:buNone/>
            </a:pPr>
            <a:r>
              <a:t/>
            </a:r>
            <a:endParaRPr sz="1450">
              <a:solidFill>
                <a:schemeClr val="lt1"/>
              </a:solidFill>
              <a:highlight>
                <a:schemeClr val="dk1"/>
              </a:highlight>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Dataset Selection and Justification</a:t>
            </a:r>
            <a:endParaRPr b="1"/>
          </a:p>
        </p:txBody>
      </p:sp>
      <p:sp>
        <p:nvSpPr>
          <p:cNvPr id="148" name="Google Shape;148;p15"/>
          <p:cNvSpPr txBox="1"/>
          <p:nvPr>
            <p:ph idx="1" type="body"/>
          </p:nvPr>
        </p:nvSpPr>
        <p:spPr>
          <a:xfrm>
            <a:off x="1701900" y="1116150"/>
            <a:ext cx="7038900" cy="29112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0"/>
              </a:spcAft>
              <a:buClr>
                <a:schemeClr val="dk1"/>
              </a:buClr>
              <a:buSzPts val="1100"/>
              <a:buFont typeface="Arial"/>
              <a:buNone/>
            </a:pPr>
            <a:r>
              <a:rPr b="1" lang="en" sz="1400">
                <a:highlight>
                  <a:schemeClr val="dk1"/>
                </a:highlight>
              </a:rPr>
              <a:t>Why We Chose This Dataset</a:t>
            </a:r>
            <a:endParaRPr b="1" sz="1400">
              <a:highlight>
                <a:schemeClr val="dk1"/>
              </a:highlight>
            </a:endParaRPr>
          </a:p>
          <a:p>
            <a:pPr indent="-317500" lvl="0" marL="457200" rtl="0" algn="l">
              <a:lnSpc>
                <a:spcPct val="95000"/>
              </a:lnSpc>
              <a:spcBef>
                <a:spcPts val="1200"/>
              </a:spcBef>
              <a:spcAft>
                <a:spcPts val="0"/>
              </a:spcAft>
              <a:buClr>
                <a:schemeClr val="lt1"/>
              </a:buClr>
              <a:buSzPts val="1400"/>
              <a:buAutoNum type="arabicPeriod"/>
            </a:pPr>
            <a:r>
              <a:rPr b="1" lang="en" sz="1400">
                <a:highlight>
                  <a:schemeClr val="dk1"/>
                </a:highlight>
              </a:rPr>
              <a:t>Diverse Data Types for Analysis</a:t>
            </a:r>
            <a:endParaRPr b="1" sz="1400">
              <a:highlight>
                <a:schemeClr val="dk1"/>
              </a:highlight>
            </a:endParaRPr>
          </a:p>
          <a:p>
            <a:pPr indent="-317500" lvl="1" marL="914400" rtl="0" algn="l">
              <a:lnSpc>
                <a:spcPct val="95000"/>
              </a:lnSpc>
              <a:spcBef>
                <a:spcPts val="0"/>
              </a:spcBef>
              <a:spcAft>
                <a:spcPts val="0"/>
              </a:spcAft>
              <a:buClr>
                <a:schemeClr val="lt1"/>
              </a:buClr>
              <a:buSzPts val="1400"/>
              <a:buChar char="○"/>
            </a:pPr>
            <a:r>
              <a:rPr lang="en" sz="1400">
                <a:highlight>
                  <a:schemeClr val="dk1"/>
                </a:highlight>
              </a:rPr>
              <a:t>Contains </a:t>
            </a:r>
            <a:r>
              <a:rPr b="1" lang="en" sz="1400">
                <a:highlight>
                  <a:schemeClr val="dk1"/>
                </a:highlight>
              </a:rPr>
              <a:t>nominal, ordinal, categorical, and numerical</a:t>
            </a:r>
            <a:r>
              <a:rPr lang="en" sz="1400">
                <a:highlight>
                  <a:schemeClr val="dk1"/>
                </a:highlight>
              </a:rPr>
              <a:t> variables.</a:t>
            </a:r>
            <a:endParaRPr sz="1400">
              <a:highlight>
                <a:schemeClr val="dk1"/>
              </a:highlight>
            </a:endParaRPr>
          </a:p>
          <a:p>
            <a:pPr indent="-317500" lvl="1" marL="914400" rtl="0" algn="l">
              <a:lnSpc>
                <a:spcPct val="95000"/>
              </a:lnSpc>
              <a:spcBef>
                <a:spcPts val="0"/>
              </a:spcBef>
              <a:spcAft>
                <a:spcPts val="0"/>
              </a:spcAft>
              <a:buClr>
                <a:schemeClr val="lt1"/>
              </a:buClr>
              <a:buSzPts val="1400"/>
              <a:buChar char="○"/>
            </a:pPr>
            <a:r>
              <a:rPr lang="en" sz="1400">
                <a:highlight>
                  <a:schemeClr val="dk1"/>
                </a:highlight>
              </a:rPr>
              <a:t>Supports </a:t>
            </a:r>
            <a:r>
              <a:rPr b="1" lang="en" sz="1400">
                <a:highlight>
                  <a:schemeClr val="dk1"/>
                </a:highlight>
              </a:rPr>
              <a:t>varied data visualizations</a:t>
            </a:r>
            <a:r>
              <a:rPr lang="en" sz="1400">
                <a:highlight>
                  <a:schemeClr val="dk1"/>
                </a:highlight>
              </a:rPr>
              <a:t> to uncover trends and patterns.</a:t>
            </a:r>
            <a:endParaRPr sz="1400">
              <a:highlight>
                <a:schemeClr val="dk1"/>
              </a:highlight>
            </a:endParaRPr>
          </a:p>
          <a:p>
            <a:pPr indent="-317500" lvl="0" marL="457200" rtl="0" algn="l">
              <a:lnSpc>
                <a:spcPct val="95000"/>
              </a:lnSpc>
              <a:spcBef>
                <a:spcPts val="0"/>
              </a:spcBef>
              <a:spcAft>
                <a:spcPts val="0"/>
              </a:spcAft>
              <a:buClr>
                <a:schemeClr val="lt1"/>
              </a:buClr>
              <a:buSzPts val="1400"/>
              <a:buAutoNum type="arabicPeriod"/>
            </a:pPr>
            <a:r>
              <a:rPr b="1" lang="en" sz="1400">
                <a:highlight>
                  <a:schemeClr val="dk1"/>
                </a:highlight>
              </a:rPr>
              <a:t>Comprehensive Species Classification</a:t>
            </a:r>
            <a:endParaRPr b="1" sz="1400">
              <a:highlight>
                <a:schemeClr val="dk1"/>
              </a:highlight>
            </a:endParaRPr>
          </a:p>
          <a:p>
            <a:pPr indent="-317500" lvl="1" marL="914400" rtl="0" algn="l">
              <a:lnSpc>
                <a:spcPct val="95000"/>
              </a:lnSpc>
              <a:spcBef>
                <a:spcPts val="0"/>
              </a:spcBef>
              <a:spcAft>
                <a:spcPts val="0"/>
              </a:spcAft>
              <a:buClr>
                <a:schemeClr val="lt1"/>
              </a:buClr>
              <a:buSzPts val="1400"/>
              <a:buChar char="○"/>
            </a:pPr>
            <a:r>
              <a:rPr lang="en" sz="1400">
                <a:highlight>
                  <a:schemeClr val="dk1"/>
                </a:highlight>
              </a:rPr>
              <a:t>Includes key taxonomy details:</a:t>
            </a:r>
            <a:endParaRPr sz="1400">
              <a:highlight>
                <a:schemeClr val="dk1"/>
              </a:highlight>
            </a:endParaRPr>
          </a:p>
          <a:p>
            <a:pPr indent="-317500" lvl="2" marL="1371600" rtl="0" algn="l">
              <a:lnSpc>
                <a:spcPct val="95000"/>
              </a:lnSpc>
              <a:spcBef>
                <a:spcPts val="0"/>
              </a:spcBef>
              <a:spcAft>
                <a:spcPts val="0"/>
              </a:spcAft>
              <a:buClr>
                <a:schemeClr val="lt1"/>
              </a:buClr>
              <a:buSzPts val="1400"/>
              <a:buChar char="■"/>
            </a:pPr>
            <a:r>
              <a:rPr b="1" lang="en" sz="1400">
                <a:highlight>
                  <a:schemeClr val="dk1"/>
                </a:highlight>
              </a:rPr>
              <a:t>Category, Order, Family, Scientific Name</a:t>
            </a:r>
            <a:endParaRPr b="1" sz="1400">
              <a:highlight>
                <a:schemeClr val="dk1"/>
              </a:highlight>
            </a:endParaRPr>
          </a:p>
          <a:p>
            <a:pPr indent="-317500" lvl="1" marL="914400" rtl="0" algn="l">
              <a:lnSpc>
                <a:spcPct val="95000"/>
              </a:lnSpc>
              <a:spcBef>
                <a:spcPts val="0"/>
              </a:spcBef>
              <a:spcAft>
                <a:spcPts val="0"/>
              </a:spcAft>
              <a:buClr>
                <a:schemeClr val="lt1"/>
              </a:buClr>
              <a:buSzPts val="1400"/>
              <a:buChar char="○"/>
            </a:pPr>
            <a:r>
              <a:rPr lang="en" sz="1400">
                <a:highlight>
                  <a:schemeClr val="dk1"/>
                </a:highlight>
              </a:rPr>
              <a:t>Allows for </a:t>
            </a:r>
            <a:r>
              <a:rPr b="1" lang="en" sz="1400">
                <a:highlight>
                  <a:schemeClr val="dk1"/>
                </a:highlight>
              </a:rPr>
              <a:t>biodiversity exploration</a:t>
            </a:r>
            <a:r>
              <a:rPr lang="en" sz="1400">
                <a:highlight>
                  <a:schemeClr val="dk1"/>
                </a:highlight>
              </a:rPr>
              <a:t> across U.S. National Parks.</a:t>
            </a:r>
            <a:endParaRPr sz="1400">
              <a:highlight>
                <a:schemeClr val="dk1"/>
              </a:highlight>
            </a:endParaRPr>
          </a:p>
          <a:p>
            <a:pPr indent="-317500" lvl="0" marL="457200" rtl="0" algn="l">
              <a:lnSpc>
                <a:spcPct val="95000"/>
              </a:lnSpc>
              <a:spcBef>
                <a:spcPts val="0"/>
              </a:spcBef>
              <a:spcAft>
                <a:spcPts val="0"/>
              </a:spcAft>
              <a:buClr>
                <a:schemeClr val="lt1"/>
              </a:buClr>
              <a:buSzPts val="1400"/>
              <a:buAutoNum type="arabicPeriod"/>
            </a:pPr>
            <a:r>
              <a:rPr b="1" lang="en" sz="1400">
                <a:highlight>
                  <a:schemeClr val="dk1"/>
                </a:highlight>
              </a:rPr>
              <a:t>Focus on Endangered Species</a:t>
            </a:r>
            <a:endParaRPr b="1" sz="1400">
              <a:highlight>
                <a:schemeClr val="dk1"/>
              </a:highlight>
            </a:endParaRPr>
          </a:p>
          <a:p>
            <a:pPr indent="-317500" lvl="1" marL="914400" rtl="0" algn="l">
              <a:lnSpc>
                <a:spcPct val="95000"/>
              </a:lnSpc>
              <a:spcBef>
                <a:spcPts val="0"/>
              </a:spcBef>
              <a:spcAft>
                <a:spcPts val="0"/>
              </a:spcAft>
              <a:buClr>
                <a:schemeClr val="lt1"/>
              </a:buClr>
              <a:buSzPts val="1400"/>
              <a:buChar char="○"/>
            </a:pPr>
            <a:r>
              <a:rPr lang="en" sz="1400">
                <a:highlight>
                  <a:schemeClr val="dk1"/>
                </a:highlight>
              </a:rPr>
              <a:t>We aim to </a:t>
            </a:r>
            <a:r>
              <a:rPr b="1" lang="en" sz="1400">
                <a:highlight>
                  <a:schemeClr val="dk1"/>
                </a:highlight>
              </a:rPr>
              <a:t>analyze species' conservation status</a:t>
            </a:r>
            <a:r>
              <a:rPr lang="en" sz="1400">
                <a:highlight>
                  <a:schemeClr val="dk1"/>
                </a:highlight>
              </a:rPr>
              <a:t> and distribution.</a:t>
            </a:r>
            <a:endParaRPr sz="1400">
              <a:highlight>
                <a:schemeClr val="dk1"/>
              </a:highlight>
            </a:endParaRPr>
          </a:p>
          <a:p>
            <a:pPr indent="-317500" lvl="1" marL="914400" rtl="0" algn="l">
              <a:lnSpc>
                <a:spcPct val="95000"/>
              </a:lnSpc>
              <a:spcBef>
                <a:spcPts val="0"/>
              </a:spcBef>
              <a:spcAft>
                <a:spcPts val="0"/>
              </a:spcAft>
              <a:buClr>
                <a:schemeClr val="lt1"/>
              </a:buClr>
              <a:buSzPts val="1400"/>
              <a:buChar char="○"/>
            </a:pPr>
            <a:r>
              <a:rPr lang="en" sz="1400">
                <a:highlight>
                  <a:schemeClr val="dk1"/>
                </a:highlight>
              </a:rPr>
              <a:t>Key variables for this analysis:</a:t>
            </a:r>
            <a:endParaRPr sz="1400">
              <a:highlight>
                <a:schemeClr val="dk1"/>
              </a:highlight>
            </a:endParaRPr>
          </a:p>
          <a:p>
            <a:pPr indent="-317500" lvl="2" marL="1371600" rtl="0" algn="l">
              <a:lnSpc>
                <a:spcPct val="95000"/>
              </a:lnSpc>
              <a:spcBef>
                <a:spcPts val="0"/>
              </a:spcBef>
              <a:spcAft>
                <a:spcPts val="0"/>
              </a:spcAft>
              <a:buClr>
                <a:schemeClr val="lt1"/>
              </a:buClr>
              <a:buSzPts val="1400"/>
              <a:buChar char="■"/>
            </a:pPr>
            <a:r>
              <a:rPr b="1" lang="en" sz="1400">
                <a:highlight>
                  <a:schemeClr val="dk1"/>
                </a:highlight>
              </a:rPr>
              <a:t>TEStatus (Threatened/Endangered Status)</a:t>
            </a:r>
            <a:endParaRPr b="1" sz="1400">
              <a:highlight>
                <a:schemeClr val="dk1"/>
              </a:highlight>
            </a:endParaRPr>
          </a:p>
          <a:p>
            <a:pPr indent="-317500" lvl="2" marL="1371600" rtl="0" algn="l">
              <a:lnSpc>
                <a:spcPct val="95000"/>
              </a:lnSpc>
              <a:spcBef>
                <a:spcPts val="0"/>
              </a:spcBef>
              <a:spcAft>
                <a:spcPts val="0"/>
              </a:spcAft>
              <a:buClr>
                <a:schemeClr val="lt1"/>
              </a:buClr>
              <a:buSzPts val="1400"/>
              <a:buChar char="■"/>
            </a:pPr>
            <a:r>
              <a:rPr b="1" lang="en" sz="1400">
                <a:highlight>
                  <a:schemeClr val="dk1"/>
                </a:highlight>
              </a:rPr>
              <a:t>StateStatus, GRank, SRank</a:t>
            </a:r>
            <a:endParaRPr b="1" sz="1400">
              <a:highlight>
                <a:schemeClr val="dk1"/>
              </a:highlight>
            </a:endParaRPr>
          </a:p>
          <a:p>
            <a:pPr indent="0" lvl="0" marL="0" rtl="0" algn="l">
              <a:lnSpc>
                <a:spcPct val="95000"/>
              </a:lnSpc>
              <a:spcBef>
                <a:spcPts val="1200"/>
              </a:spcBef>
              <a:spcAft>
                <a:spcPts val="1200"/>
              </a:spcAft>
              <a:buNone/>
            </a:pPr>
            <a:r>
              <a:t/>
            </a:r>
            <a:endParaRPr sz="1600">
              <a:highlight>
                <a:schemeClr val="dk1"/>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6"/>
          <p:cNvSpPr txBox="1"/>
          <p:nvPr>
            <p:ph type="title"/>
          </p:nvPr>
        </p:nvSpPr>
        <p:spPr>
          <a:xfrm>
            <a:off x="400150" y="12907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1200"/>
              </a:spcAft>
              <a:buClr>
                <a:schemeClr val="dk1"/>
              </a:buClr>
              <a:buSzPts val="990"/>
              <a:buFont typeface="Arial"/>
              <a:buNone/>
            </a:pPr>
            <a:r>
              <a:rPr b="1" lang="en" sz="1420"/>
              <a:t>Q1.</a:t>
            </a:r>
            <a:r>
              <a:rPr b="1" lang="en" sz="1420"/>
              <a:t> How do global conservation ranks vary across 15 most visited US national parks? (park name, G_ranks, species count)</a:t>
            </a:r>
            <a:endParaRPr b="1" sz="1960"/>
          </a:p>
        </p:txBody>
      </p:sp>
      <p:sp>
        <p:nvSpPr>
          <p:cNvPr id="154" name="Google Shape;154;p16"/>
          <p:cNvSpPr txBox="1"/>
          <p:nvPr>
            <p:ph idx="1" type="body"/>
          </p:nvPr>
        </p:nvSpPr>
        <p:spPr>
          <a:xfrm>
            <a:off x="400150" y="1323225"/>
            <a:ext cx="8252100" cy="29112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0"/>
              </a:spcAft>
              <a:buClr>
                <a:schemeClr val="dk1"/>
              </a:buClr>
              <a:buSzPts val="1100"/>
              <a:buFont typeface="Arial"/>
              <a:buNone/>
            </a:pPr>
            <a:r>
              <a:rPr b="1" lang="en" sz="1400">
                <a:highlight>
                  <a:schemeClr val="dk1"/>
                </a:highlight>
              </a:rPr>
              <a:t>Steps:</a:t>
            </a:r>
            <a:endParaRPr b="1" sz="1400">
              <a:highlight>
                <a:schemeClr val="dk1"/>
              </a:highlight>
            </a:endParaRPr>
          </a:p>
          <a:p>
            <a:pPr indent="-317500" lvl="0" marL="457200" rtl="0" algn="l">
              <a:lnSpc>
                <a:spcPct val="95000"/>
              </a:lnSpc>
              <a:spcBef>
                <a:spcPts val="1200"/>
              </a:spcBef>
              <a:spcAft>
                <a:spcPts val="0"/>
              </a:spcAft>
              <a:buSzPts val="1400"/>
              <a:buAutoNum type="arabicPeriod"/>
            </a:pPr>
            <a:r>
              <a:rPr b="1" lang="en" sz="1400">
                <a:highlight>
                  <a:schemeClr val="dk1"/>
                </a:highlight>
              </a:rPr>
              <a:t>To investigate how species are distributed across national parks by conservation statues, we utilized a combination of spatial and categorical visualizations.</a:t>
            </a:r>
            <a:endParaRPr b="1" sz="1400">
              <a:highlight>
                <a:schemeClr val="dk1"/>
              </a:highlight>
            </a:endParaRPr>
          </a:p>
          <a:p>
            <a:pPr indent="0" lvl="0" marL="457200" rtl="0" algn="l">
              <a:lnSpc>
                <a:spcPct val="95000"/>
              </a:lnSpc>
              <a:spcBef>
                <a:spcPts val="1200"/>
              </a:spcBef>
              <a:spcAft>
                <a:spcPts val="0"/>
              </a:spcAft>
              <a:buNone/>
            </a:pPr>
            <a:r>
              <a:t/>
            </a:r>
            <a:endParaRPr b="1" sz="1400">
              <a:highlight>
                <a:schemeClr val="dk1"/>
              </a:highlight>
            </a:endParaRPr>
          </a:p>
          <a:p>
            <a:pPr indent="-317500" lvl="0" marL="457200" rtl="0" algn="l">
              <a:lnSpc>
                <a:spcPct val="95000"/>
              </a:lnSpc>
              <a:spcBef>
                <a:spcPts val="1200"/>
              </a:spcBef>
              <a:spcAft>
                <a:spcPts val="0"/>
              </a:spcAft>
              <a:buSzPts val="1400"/>
              <a:buAutoNum type="arabicPeriod"/>
            </a:pPr>
            <a:r>
              <a:rPr b="1" lang="en" sz="1400">
                <a:highlight>
                  <a:schemeClr val="dk1"/>
                </a:highlight>
              </a:rPr>
              <a:t>Stacked Bar Chart:  We created a Stacked Bar Chart for each national park such that the length of each individual bars showcase the number of species within that national park. The stacks in a particular bar details the proportions of different conservation statuses based on the GRank.</a:t>
            </a:r>
            <a:endParaRPr b="1" sz="1400">
              <a:highlight>
                <a:schemeClr val="dk1"/>
              </a:highlight>
            </a:endParaRPr>
          </a:p>
          <a:p>
            <a:pPr indent="0" lvl="0" marL="457200" rtl="0" algn="l">
              <a:lnSpc>
                <a:spcPct val="95000"/>
              </a:lnSpc>
              <a:spcBef>
                <a:spcPts val="1200"/>
              </a:spcBef>
              <a:spcAft>
                <a:spcPts val="0"/>
              </a:spcAft>
              <a:buNone/>
            </a:pPr>
            <a:r>
              <a:t/>
            </a:r>
            <a:endParaRPr b="1" sz="1400">
              <a:highlight>
                <a:schemeClr val="dk1"/>
              </a:highlight>
            </a:endParaRPr>
          </a:p>
          <a:p>
            <a:pPr indent="-317500" lvl="0" marL="457200" rtl="0" algn="l">
              <a:lnSpc>
                <a:spcPct val="95000"/>
              </a:lnSpc>
              <a:spcBef>
                <a:spcPts val="1200"/>
              </a:spcBef>
              <a:spcAft>
                <a:spcPts val="0"/>
              </a:spcAft>
              <a:buSzPts val="1400"/>
              <a:buAutoNum type="arabicPeriod"/>
            </a:pPr>
            <a:r>
              <a:rPr b="1" lang="en" sz="1400">
                <a:highlight>
                  <a:schemeClr val="dk1"/>
                </a:highlight>
              </a:rPr>
              <a:t>We also try to show the null values within each park separately using an image of the park by blackening an area of the image based on the number of null values present within that park. The main reason for doing this was because without the null values, most of the species in all the parks looked secured, so we tried to highlight this missing data to showcase the unknown status of many species within the park. </a:t>
            </a:r>
            <a:endParaRPr b="1" sz="1400">
              <a:highlight>
                <a:schemeClr val="dk1"/>
              </a:highlight>
            </a:endParaRPr>
          </a:p>
          <a:p>
            <a:pPr indent="0" lvl="0" marL="0" rtl="0" algn="l">
              <a:lnSpc>
                <a:spcPct val="95000"/>
              </a:lnSpc>
              <a:spcBef>
                <a:spcPts val="1200"/>
              </a:spcBef>
              <a:spcAft>
                <a:spcPts val="1200"/>
              </a:spcAft>
              <a:buNone/>
            </a:pPr>
            <a:r>
              <a:t/>
            </a:r>
            <a:endParaRPr sz="1600">
              <a:highlight>
                <a:schemeClr val="dk1"/>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p17"/>
          <p:cNvPicPr preferRelativeResize="0"/>
          <p:nvPr/>
        </p:nvPicPr>
        <p:blipFill>
          <a:blip r:embed="rId3">
            <a:alphaModFix/>
          </a:blip>
          <a:stretch>
            <a:fillRect/>
          </a:stretch>
        </p:blipFill>
        <p:spPr>
          <a:xfrm>
            <a:off x="0" y="0"/>
            <a:ext cx="9144001" cy="51434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8"/>
          <p:cNvSpPr txBox="1"/>
          <p:nvPr>
            <p:ph type="title"/>
          </p:nvPr>
        </p:nvSpPr>
        <p:spPr>
          <a:xfrm>
            <a:off x="1246950" y="103100"/>
            <a:ext cx="7038900" cy="9141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1200"/>
              </a:spcAft>
              <a:buNone/>
            </a:pPr>
            <a:r>
              <a:rPr b="1" lang="en" sz="1400">
                <a:latin typeface="Lato"/>
                <a:ea typeface="Lato"/>
                <a:cs typeface="Lato"/>
                <a:sym typeface="Lato"/>
              </a:rPr>
              <a:t>Q</a:t>
            </a:r>
            <a:r>
              <a:rPr b="1" lang="en" sz="1400">
                <a:latin typeface="Lato"/>
                <a:ea typeface="Lato"/>
                <a:cs typeface="Lato"/>
                <a:sym typeface="Lato"/>
              </a:rPr>
              <a:t>2.  How are species distributed across national parks by category? (park name, species category, species count)?</a:t>
            </a:r>
            <a:endParaRPr b="1" sz="2100"/>
          </a:p>
        </p:txBody>
      </p:sp>
      <p:sp>
        <p:nvSpPr>
          <p:cNvPr id="165" name="Google Shape;165;p18"/>
          <p:cNvSpPr txBox="1"/>
          <p:nvPr>
            <p:ph idx="1" type="body"/>
          </p:nvPr>
        </p:nvSpPr>
        <p:spPr>
          <a:xfrm>
            <a:off x="400150" y="1323225"/>
            <a:ext cx="8252100" cy="52077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0"/>
              </a:spcAft>
              <a:buClr>
                <a:schemeClr val="dk1"/>
              </a:buClr>
              <a:buSzPts val="1100"/>
              <a:buFont typeface="Arial"/>
              <a:buNone/>
            </a:pPr>
            <a:r>
              <a:rPr b="1" lang="en" sz="1400">
                <a:highlight>
                  <a:schemeClr val="dk1"/>
                </a:highlight>
              </a:rPr>
              <a:t>Steps:</a:t>
            </a:r>
            <a:endParaRPr b="1" sz="1400">
              <a:highlight>
                <a:schemeClr val="dk1"/>
              </a:highlight>
            </a:endParaRPr>
          </a:p>
          <a:p>
            <a:pPr indent="-317500" lvl="0" marL="457200" rtl="0" algn="l">
              <a:lnSpc>
                <a:spcPct val="95000"/>
              </a:lnSpc>
              <a:spcBef>
                <a:spcPts val="1200"/>
              </a:spcBef>
              <a:spcAft>
                <a:spcPts val="0"/>
              </a:spcAft>
              <a:buSzPts val="1400"/>
              <a:buAutoNum type="arabicPeriod"/>
            </a:pPr>
            <a:r>
              <a:rPr b="1" lang="en" sz="1400">
                <a:highlight>
                  <a:schemeClr val="dk1"/>
                </a:highlight>
              </a:rPr>
              <a:t>A Mapping is set up to group the many possible Category Name tags into five broad categories: Vertebrates, Invertebrates, Plants, Fungi, and Microorganisms. The program applies this mapping so that the rows now contain only one of those five large groupings.Then we make sure that every species has a single occurrence per park so that the integrity of the data is maintained.</a:t>
            </a:r>
            <a:endParaRPr b="1" sz="1400">
              <a:highlight>
                <a:schemeClr val="dk1"/>
              </a:highlight>
            </a:endParaRPr>
          </a:p>
          <a:p>
            <a:pPr indent="0" lvl="0" marL="457200" rtl="0" algn="l">
              <a:lnSpc>
                <a:spcPct val="95000"/>
              </a:lnSpc>
              <a:spcBef>
                <a:spcPts val="1200"/>
              </a:spcBef>
              <a:spcAft>
                <a:spcPts val="0"/>
              </a:spcAft>
              <a:buNone/>
            </a:pPr>
            <a:r>
              <a:t/>
            </a:r>
            <a:endParaRPr b="1" sz="1400">
              <a:highlight>
                <a:schemeClr val="dk1"/>
              </a:highlight>
            </a:endParaRPr>
          </a:p>
          <a:p>
            <a:pPr indent="-317500" lvl="0" marL="457200" rtl="0" algn="l">
              <a:lnSpc>
                <a:spcPct val="95000"/>
              </a:lnSpc>
              <a:spcBef>
                <a:spcPts val="1200"/>
              </a:spcBef>
              <a:spcAft>
                <a:spcPts val="0"/>
              </a:spcAft>
              <a:buSzPts val="1400"/>
              <a:buAutoNum type="arabicPeriod"/>
            </a:pPr>
            <a:r>
              <a:rPr b="1" lang="en" sz="1400">
                <a:highlight>
                  <a:schemeClr val="dk1"/>
                </a:highlight>
              </a:rPr>
              <a:t>Bubble Plot: Every national park will be represented as a bubble, with species count as the overall bubble size. The ratio of each pie chart slice to represent different categories of species will be indicated through the pie chart slices. The bubble plot setting is ideal for this examination because it allows us to represent multiple dimensions of data at once: the total species richness (bubble size), the relative distribution among categories (pie slices), and the comparison among all parks (bubble configuration).</a:t>
            </a:r>
            <a:endParaRPr b="1" sz="1400">
              <a:highlight>
                <a:schemeClr val="dk1"/>
              </a:highlight>
            </a:endParaRPr>
          </a:p>
          <a:p>
            <a:pPr indent="0" lvl="0" marL="0" rtl="0" algn="l">
              <a:lnSpc>
                <a:spcPct val="95000"/>
              </a:lnSpc>
              <a:spcBef>
                <a:spcPts val="1200"/>
              </a:spcBef>
              <a:spcAft>
                <a:spcPts val="1200"/>
              </a:spcAft>
              <a:buNone/>
            </a:pPr>
            <a:r>
              <a:t/>
            </a:r>
            <a:endParaRPr sz="1600">
              <a:highlight>
                <a:schemeClr val="dk1"/>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p19"/>
          <p:cNvPicPr preferRelativeResize="0"/>
          <p:nvPr/>
        </p:nvPicPr>
        <p:blipFill>
          <a:blip r:embed="rId3">
            <a:alphaModFix/>
          </a:blip>
          <a:stretch>
            <a:fillRect/>
          </a:stretch>
        </p:blipFill>
        <p:spPr>
          <a:xfrm>
            <a:off x="0" y="0"/>
            <a:ext cx="9143998" cy="51435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Some Conclusions</a:t>
            </a:r>
            <a:endParaRPr/>
          </a:p>
        </p:txBody>
      </p:sp>
      <p:sp>
        <p:nvSpPr>
          <p:cNvPr id="176" name="Google Shape;176;p20"/>
          <p:cNvSpPr txBox="1"/>
          <p:nvPr>
            <p:ph idx="1" type="body"/>
          </p:nvPr>
        </p:nvSpPr>
        <p:spPr>
          <a:xfrm>
            <a:off x="1297500" y="1096850"/>
            <a:ext cx="7038900" cy="3381900"/>
          </a:xfrm>
          <a:prstGeom prst="rect">
            <a:avLst/>
          </a:prstGeom>
        </p:spPr>
        <p:txBody>
          <a:bodyPr anchorCtr="0" anchor="t" bIns="91425" lIns="91425" spcFirstLastPara="1" rIns="91425" wrap="square" tIns="91425">
            <a:normAutofit lnSpcReduction="20000"/>
          </a:bodyPr>
          <a:lstStyle/>
          <a:p>
            <a:pPr indent="-323335" lvl="0" marL="457200" rtl="0" algn="l">
              <a:spcBef>
                <a:spcPts val="0"/>
              </a:spcBef>
              <a:spcAft>
                <a:spcPts val="0"/>
              </a:spcAft>
              <a:buSzPts val="1492"/>
              <a:buFont typeface="Arial"/>
              <a:buChar char="●"/>
            </a:pPr>
            <a:r>
              <a:rPr b="1" lang="en" sz="1491">
                <a:latin typeface="Arial"/>
                <a:ea typeface="Arial"/>
                <a:cs typeface="Arial"/>
                <a:sym typeface="Arial"/>
              </a:rPr>
              <a:t>Great Smoky Mountains National Park</a:t>
            </a:r>
            <a:r>
              <a:rPr lang="en" sz="1491">
                <a:latin typeface="Arial"/>
                <a:ea typeface="Arial"/>
                <a:cs typeface="Arial"/>
                <a:sym typeface="Arial"/>
              </a:rPr>
              <a:t> has the highest species count, with a notable mix of conservation statuses</a:t>
            </a:r>
            <a:endParaRPr sz="1491">
              <a:latin typeface="Arial"/>
              <a:ea typeface="Arial"/>
              <a:cs typeface="Arial"/>
              <a:sym typeface="Arial"/>
            </a:endParaRPr>
          </a:p>
          <a:p>
            <a:pPr indent="-323335" lvl="0" marL="457200" rtl="0" algn="l">
              <a:spcBef>
                <a:spcPts val="0"/>
              </a:spcBef>
              <a:spcAft>
                <a:spcPts val="0"/>
              </a:spcAft>
              <a:buSzPts val="1492"/>
              <a:buFont typeface="Arial"/>
              <a:buChar char="●"/>
            </a:pPr>
            <a:r>
              <a:rPr lang="en" sz="1491">
                <a:latin typeface="Arial"/>
                <a:ea typeface="Arial"/>
                <a:cs typeface="Arial"/>
                <a:sym typeface="Arial"/>
              </a:rPr>
              <a:t>The second plot indicates that some parks, such as the Great Smoky Mountains and Grand Canyon, have a much higher species count than others.</a:t>
            </a:r>
            <a:endParaRPr sz="1491">
              <a:latin typeface="Arial"/>
              <a:ea typeface="Arial"/>
              <a:cs typeface="Arial"/>
              <a:sym typeface="Arial"/>
            </a:endParaRPr>
          </a:p>
          <a:p>
            <a:pPr indent="-323335" lvl="0" marL="457200" rtl="0" algn="l">
              <a:spcBef>
                <a:spcPts val="0"/>
              </a:spcBef>
              <a:spcAft>
                <a:spcPts val="0"/>
              </a:spcAft>
              <a:buSzPts val="1492"/>
              <a:buFont typeface="Arial"/>
              <a:buChar char="●"/>
            </a:pPr>
            <a:r>
              <a:rPr lang="en" sz="1491">
                <a:latin typeface="Arial"/>
                <a:ea typeface="Arial"/>
                <a:cs typeface="Arial"/>
                <a:sym typeface="Arial"/>
              </a:rPr>
              <a:t>Several parks, including Grand Canyon and Great Smoky Mountains, show a significant portion of species with</a:t>
            </a:r>
            <a:r>
              <a:rPr b="1" lang="en" sz="1491">
                <a:latin typeface="Arial"/>
                <a:ea typeface="Arial"/>
                <a:cs typeface="Arial"/>
                <a:sym typeface="Arial"/>
              </a:rPr>
              <a:t> unknown conservation status</a:t>
            </a:r>
            <a:r>
              <a:rPr lang="en" sz="1491">
                <a:latin typeface="Arial"/>
                <a:ea typeface="Arial"/>
                <a:cs typeface="Arial"/>
                <a:sym typeface="Arial"/>
              </a:rPr>
              <a:t>.</a:t>
            </a:r>
            <a:endParaRPr sz="1491">
              <a:latin typeface="Arial"/>
              <a:ea typeface="Arial"/>
              <a:cs typeface="Arial"/>
              <a:sym typeface="Arial"/>
            </a:endParaRPr>
          </a:p>
          <a:p>
            <a:pPr indent="-323335" lvl="0" marL="457200" rtl="0" algn="l">
              <a:spcBef>
                <a:spcPts val="0"/>
              </a:spcBef>
              <a:spcAft>
                <a:spcPts val="0"/>
              </a:spcAft>
              <a:buSzPts val="1492"/>
              <a:buFont typeface="Arial"/>
              <a:buChar char="●"/>
            </a:pPr>
            <a:r>
              <a:rPr lang="en" sz="1491">
                <a:latin typeface="Arial"/>
                <a:ea typeface="Arial"/>
                <a:cs typeface="Arial"/>
                <a:sym typeface="Arial"/>
              </a:rPr>
              <a:t>The Great Smoky Mountains appears to have the most balanced diversity, while other parks show variations in dominant species groups.</a:t>
            </a:r>
            <a:endParaRPr sz="1491">
              <a:latin typeface="Arial"/>
              <a:ea typeface="Arial"/>
              <a:cs typeface="Arial"/>
              <a:sym typeface="Arial"/>
            </a:endParaRPr>
          </a:p>
          <a:p>
            <a:pPr indent="-323335" lvl="0" marL="457200" rtl="0" algn="l">
              <a:spcBef>
                <a:spcPts val="0"/>
              </a:spcBef>
              <a:spcAft>
                <a:spcPts val="0"/>
              </a:spcAft>
              <a:buSzPts val="1492"/>
              <a:buFont typeface="Arial"/>
              <a:buChar char="●"/>
            </a:pPr>
            <a:r>
              <a:rPr lang="en" sz="1491">
                <a:latin typeface="Arial"/>
                <a:ea typeface="Arial"/>
                <a:cs typeface="Arial"/>
                <a:sym typeface="Arial"/>
              </a:rPr>
              <a:t>The number of species appears to correlate with park size and ecological diversity, as seen in parks like Great Smoky Mountains, Grand Canyon, and Yellowstone. </a:t>
            </a:r>
            <a:endParaRPr sz="1491">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1"/>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sz="4400"/>
              <a:t>Q &amp; A ?</a:t>
            </a:r>
            <a:endParaRPr b="1" sz="44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